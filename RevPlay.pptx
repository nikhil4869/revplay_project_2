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257" r:id="rId3"/>
    <p:sldId id="258" r:id="rId4"/>
    <p:sldId id="270" r:id="rId5"/>
    <p:sldId id="272" r:id="rId6"/>
    <p:sldId id="267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6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93935-44A5-95AD-8A6F-33065AAC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36"/>
            <a:ext cx="9144000" cy="51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1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807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4008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C2BD9"/>
                </a:solidFill>
              </a:rPr>
              <a:t>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E8F0"/>
                </a:solidFill>
              </a:rPr>
              <a:t>RevPlay is a full-stack monolithic music streaming web application built with Spring Boot and Thymeleaf. It enables users to stream music, manage playlists, and discover new content — while giving artists tools to upload and showcase their music.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3291840" cy="566928"/>
          </a:xfrm>
          <a:prstGeom prst="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8803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F0"/>
                </a:solidFill>
              </a:rPr>
              <a:t>Modules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474720"/>
            <a:ext cx="3291840" cy="566928"/>
          </a:xfrm>
          <a:prstGeom prst="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5204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F0"/>
                </a:solidFill>
              </a:rPr>
              <a:t>User Roles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114800"/>
            <a:ext cx="3291840" cy="566928"/>
          </a:xfrm>
          <a:prstGeom prst="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16052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</a:rPr>
              <a:t>50+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F0"/>
                </a:solidFill>
              </a:rPr>
              <a:t>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69080" y="201168"/>
            <a:ext cx="2514600" cy="141732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78808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♪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78808" y="768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Music Player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78808" y="10515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A"/>
                </a:solidFill>
              </a:rPr>
              <a:t>Integrated web player with queue, shuffle, repeat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201168"/>
            <a:ext cx="2514600" cy="141732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30568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30568" y="768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Smart Search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30568" y="10515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A"/>
                </a:solidFill>
              </a:rPr>
              <a:t>Search songs, artists, albums, playlists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1773936"/>
            <a:ext cx="2514600" cy="141732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78808" y="1865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♥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78808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Favorites &amp; History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78808" y="26243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A"/>
                </a:solidFill>
              </a:rPr>
              <a:t>Favorites, listening history, playlist follow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1773936"/>
            <a:ext cx="2514600" cy="141732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30568" y="1865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30568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Artist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30568" y="26243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A"/>
                </a:solidFill>
              </a:rPr>
              <a:t>Upload music, analytics, song visibility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69080" y="3346704"/>
            <a:ext cx="2514600" cy="141732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78808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178808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Playlist Mgmt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78808" y="41970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A"/>
                </a:solidFill>
              </a:rPr>
              <a:t>Create, reorder, share public/private playlists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20840" y="3346704"/>
            <a:ext cx="2514600" cy="141732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6C2BD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30568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30568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Role-Based Access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30568" y="41970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A"/>
                </a:solidFill>
              </a:rPr>
              <a:t>LISTENER / ARTIST  with Spring Security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TECHNOLOGIES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011680" cy="1691640"/>
          </a:xfrm>
          <a:prstGeom prst="roundRect">
            <a:avLst/>
          </a:prstGeom>
          <a:solidFill>
            <a:srgbClr val="1E1E42"/>
          </a:solidFill>
          <a:ln w="15240">
            <a:solidFill>
              <a:srgbClr val="F0A500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011680" cy="347472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☕  Java 17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50876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Core language – OOP, streams, generics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2304" y="1078992"/>
            <a:ext cx="2011680" cy="1691640"/>
          </a:xfrm>
          <a:prstGeom prst="roundRect">
            <a:avLst/>
          </a:prstGeom>
          <a:solidFill>
            <a:srgbClr val="1E1E42"/>
          </a:solidFill>
          <a:ln w="15240">
            <a:solidFill>
              <a:srgbClr val="00C9A7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078992"/>
            <a:ext cx="201168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🌿  Spring Boot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23744" y="150876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Framework – REST, DI, auto-config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078992"/>
            <a:ext cx="2011680" cy="1691640"/>
          </a:xfrm>
          <a:prstGeom prst="roundRect">
            <a:avLst/>
          </a:prstGeom>
          <a:solidFill>
            <a:srgbClr val="1E1E42"/>
          </a:solidFill>
          <a:ln w="15240">
            <a:solidFill>
              <a:srgbClr val="F0503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078992"/>
            <a:ext cx="2011680" cy="347472"/>
          </a:xfrm>
          <a:prstGeom prst="rect">
            <a:avLst/>
          </a:prstGeom>
          <a:solidFill>
            <a:srgbClr val="F05032">
              <a:alpha val="80000"/>
            </a:srgbClr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  Oracle 21c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0016" y="150876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Relational DB – JPA / Hibernate ORM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84848" y="1078992"/>
            <a:ext cx="2011680" cy="1691640"/>
          </a:xfrm>
          <a:prstGeom prst="roundRect">
            <a:avLst/>
          </a:prstGeom>
          <a:solidFill>
            <a:srgbClr val="1E1E42"/>
          </a:solidFill>
          <a:ln w="15240">
            <a:solidFill>
              <a:srgbClr val="4CAF50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4848" y="1078992"/>
            <a:ext cx="2011680" cy="347472"/>
          </a:xfrm>
          <a:prstGeom prst="rect">
            <a:avLst/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Thymeleaf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76288" y="150876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MVC templates – server-side HTML rendering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99032" y="2944368"/>
            <a:ext cx="2011680" cy="1691640"/>
          </a:xfrm>
          <a:prstGeom prst="roundRect">
            <a:avLst/>
          </a:prstGeom>
          <a:solidFill>
            <a:srgbClr val="1E1E42"/>
          </a:solidFill>
          <a:ln w="15240">
            <a:solidFill>
              <a:srgbClr val="6C2BD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99032" y="2944368"/>
            <a:ext cx="2011680" cy="347472"/>
          </a:xfrm>
          <a:prstGeom prst="rect">
            <a:avLst/>
          </a:prstGeom>
          <a:solidFill>
            <a:srgbClr val="6C2BD9">
              <a:alpha val="8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90472" y="29626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JUnit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90472" y="3374136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Unit + integration testing framework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75304" y="2944368"/>
            <a:ext cx="2011680" cy="1691640"/>
          </a:xfrm>
          <a:prstGeom prst="roundRect">
            <a:avLst/>
          </a:prstGeom>
          <a:solidFill>
            <a:srgbClr val="1E1E42"/>
          </a:solidFill>
          <a:ln w="15240">
            <a:solidFill>
              <a:srgbClr val="FF6B3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75304" y="2944368"/>
            <a:ext cx="2011680" cy="347472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66744" y="29626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Log4j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66744" y="3374136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Logging – AOP-based, structured logs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51576" y="2944368"/>
            <a:ext cx="2011680" cy="1691640"/>
          </a:xfrm>
          <a:prstGeom prst="roundRect">
            <a:avLst/>
          </a:prstGeom>
          <a:solidFill>
            <a:srgbClr val="1E1E42"/>
          </a:solidFill>
          <a:ln w="15240">
            <a:solidFill>
              <a:srgbClr val="F0503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51576" y="2944368"/>
            <a:ext cx="2011680" cy="347472"/>
          </a:xfrm>
          <a:prstGeom prst="rect">
            <a:avLst/>
          </a:prstGeom>
          <a:solidFill>
            <a:srgbClr val="F05032">
              <a:alpha val="80000"/>
            </a:srgbClr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43016" y="29626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🔀  Git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43016" y="3374136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Version control &amp; team collaboration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CF4D20-596D-F745-62E2-4B102E90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5"/>
            <a:ext cx="9144000" cy="513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5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66F34E-E57A-1243-8A5C-102815A4B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19"/>
            <a:ext cx="9144000" cy="500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1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78A4E4-0D14-CEFD-BC3F-14FC7D945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61"/>
            <a:ext cx="9144000" cy="51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1C0F2-1065-761A-19C2-86CBDA192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2"/>
            <a:ext cx="9144000" cy="512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3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960120" cy="960120"/>
          </a:xfrm>
          <a:prstGeom prst="ellipse">
            <a:avLst/>
          </a:prstGeom>
          <a:solidFill>
            <a:srgbClr val="6C2BD9">
              <a:alpha val="90000"/>
            </a:srgbClr>
          </a:solidFill>
          <a:ln w="19050">
            <a:solidFill>
              <a:srgbClr val="6C2B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NB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292608"/>
            <a:ext cx="1280160" cy="310896"/>
          </a:xfrm>
          <a:prstGeom prst="roundRect">
            <a:avLst/>
          </a:prstGeom>
          <a:solidFill>
            <a:srgbClr val="6C2BD9">
              <a:alpha val="8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92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MODULE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Nikhil Bontha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2BD9"/>
                </a:solidFill>
              </a:rPr>
              <a:t>Security &amp; Access Control Engineer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2743200" cy="256032"/>
          </a:xfrm>
          <a:prstGeom prst="rect">
            <a:avLst/>
          </a:prstGeom>
          <a:solidFill>
            <a:srgbClr val="6C2BD9">
              <a:alpha val="80000"/>
            </a:srgbClr>
          </a:solidFill>
          <a:ln w="12700">
            <a:solidFill>
              <a:srgbClr val="6C2BD9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21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PACKAGES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404872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14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security.config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660904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700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security.jwt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916936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security.filters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172968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82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controller.auth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38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service.auth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0"/>
            <a:ext cx="5806440" cy="514807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3716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Security &amp; Authentication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9000" y="777240"/>
            <a:ext cx="5486400" cy="237744"/>
          </a:xfrm>
          <a:prstGeom prst="rect">
            <a:avLst/>
          </a:prstGeom>
          <a:solidFill>
            <a:srgbClr val="6C2BD9">
              <a:alpha val="85000"/>
            </a:srgbClr>
          </a:solidFill>
          <a:ln w="12700">
            <a:solidFill>
              <a:srgbClr val="6C2BD9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795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ROLES &amp; RESPONSIBILITIES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9000" y="1097280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1216152"/>
            <a:ext cx="301752" cy="301752"/>
          </a:xfrm>
          <a:prstGeom prst="ellipse">
            <a:avLst/>
          </a:prstGeom>
          <a:solidFill>
            <a:srgbClr val="6C2BD9">
              <a:alpha val="7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2161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1143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Design and implement Spring Security configuration with JWT-based stateless authentication flow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1709928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1828800"/>
            <a:ext cx="301752" cy="301752"/>
          </a:xfrm>
          <a:prstGeom prst="ellipse">
            <a:avLst/>
          </a:prstGeom>
          <a:solidFill>
            <a:srgbClr val="6C2BD9">
              <a:alpha val="7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8288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58768" y="17556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Develop secure login, registration endpoints with role-based authorization (USER / ARTIST / ADMIN)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9000" y="2322576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2441448"/>
            <a:ext cx="301752" cy="301752"/>
          </a:xfrm>
          <a:prstGeom prst="ellipse">
            <a:avLst/>
          </a:prstGeom>
          <a:solidFill>
            <a:srgbClr val="6C2BD9">
              <a:alpha val="7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4414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8768" y="2368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Protect REST APIs using JwtAuthenticationFilter, authentication entry points, and access handlers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2935224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3008" y="3054096"/>
            <a:ext cx="301752" cy="301752"/>
          </a:xfrm>
          <a:prstGeom prst="ellipse">
            <a:avLst/>
          </a:prstGeom>
          <a:solidFill>
            <a:srgbClr val="6C2BD9">
              <a:alpha val="7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0540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29809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Implement BCrypt password encryption, token validation, expiry, and refresh token management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29000" y="3547872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93008" y="3666744"/>
            <a:ext cx="301752" cy="301752"/>
          </a:xfrm>
          <a:prstGeom prst="ellipse">
            <a:avLst/>
          </a:prstGeom>
          <a:solidFill>
            <a:srgbClr val="6C2BD9">
              <a:alpha val="70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6667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58768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Ensure secure integration between backend security layer and Thymeleaf MVC frontend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29000" y="4251960"/>
            <a:ext cx="5486400" cy="41148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F0A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A500"/>
                </a:solidFill>
              </a:rPr>
              <a:t>⚙  Stateless auth only · All endpoints secured except /auth/** · Roles enforced via @PreAuthorize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960120" cy="960120"/>
          </a:xfrm>
          <a:prstGeom prst="ellipse">
            <a:avLst/>
          </a:prstGeom>
          <a:solidFill>
            <a:srgbClr val="F05032">
              <a:alpha val="90000"/>
            </a:srgbClr>
          </a:solidFill>
          <a:ln w="19050">
            <a:solidFill>
              <a:srgbClr val="F05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292608"/>
            <a:ext cx="1280160" cy="310896"/>
          </a:xfrm>
          <a:prstGeom prst="roundRect">
            <a:avLst/>
          </a:prstGeom>
          <a:solidFill>
            <a:srgbClr val="F05032">
              <a:alpha val="80000"/>
            </a:srgbClr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92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MODULE 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Harish Chunduru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5032"/>
                </a:solidFill>
              </a:rPr>
              <a:t>Artist Module &amp; Content Management Engineer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2743200" cy="256032"/>
          </a:xfrm>
          <a:prstGeom prst="rect">
            <a:avLst/>
          </a:prstGeom>
          <a:solidFill>
            <a:srgbClr val="F05032">
              <a:alpha val="80000"/>
            </a:srgbClr>
          </a:solidFill>
          <a:ln w="12700">
            <a:solidFill>
              <a:srgbClr val="F05032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21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PACKAGES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404872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14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controller.artist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660904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700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service.artist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916936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controller.album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172968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82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service.album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38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controller.upload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0"/>
            <a:ext cx="5806440" cy="514807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3716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 Profile &amp; Music Upload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9000" y="777240"/>
            <a:ext cx="5486400" cy="237744"/>
          </a:xfrm>
          <a:prstGeom prst="rect">
            <a:avLst/>
          </a:prstGeom>
          <a:solidFill>
            <a:srgbClr val="F05032">
              <a:alpha val="85000"/>
            </a:srgbClr>
          </a:solidFill>
          <a:ln w="12700">
            <a:solidFill>
              <a:srgbClr val="F05032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795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ROLES &amp; RESPONSIBILITIES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9000" y="1097280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F05032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1216152"/>
            <a:ext cx="301752" cy="301752"/>
          </a:xfrm>
          <a:prstGeom prst="ellipse">
            <a:avLst/>
          </a:prstGeom>
          <a:solidFill>
            <a:srgbClr val="F05032">
              <a:alpha val="70000"/>
            </a:srgbClr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2161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1143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Develop artist profile creation, editing, and management features with social media link support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1709928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F05032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1828800"/>
            <a:ext cx="301752" cy="301752"/>
          </a:xfrm>
          <a:prstGeom prst="ellipse">
            <a:avLst/>
          </a:prstGeom>
          <a:solidFill>
            <a:srgbClr val="F05032">
              <a:alpha val="70000"/>
            </a:srgbClr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8288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58768" y="17556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Implement song upload, album creation, and media management with file storage integration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9000" y="2322576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F05032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2441448"/>
            <a:ext cx="301752" cy="301752"/>
          </a:xfrm>
          <a:prstGeom prst="ellipse">
            <a:avLst/>
          </a:prstGeom>
          <a:solidFill>
            <a:srgbClr val="F05032">
              <a:alpha val="70000"/>
            </a:srgbClr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4414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8768" y="2368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Integrate audio file and cover image storage with song visibility controls (public/unlisted)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2935224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F05032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3008" y="3054096"/>
            <a:ext cx="301752" cy="301752"/>
          </a:xfrm>
          <a:prstGeom prst="ellipse">
            <a:avLst/>
          </a:prstGeom>
          <a:solidFill>
            <a:srgbClr val="F05032">
              <a:alpha val="70000"/>
            </a:srgbClr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0540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29809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Build artist dashboard showing key metrics: total songs, total plays, and favorites analytics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29000" y="3547872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F05032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93008" y="3666744"/>
            <a:ext cx="301752" cy="301752"/>
          </a:xfrm>
          <a:prstGeom prst="ellipse">
            <a:avLst/>
          </a:prstGeom>
          <a:solidFill>
            <a:srgbClr val="F05032">
              <a:alpha val="70000"/>
            </a:srgbClr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6667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58768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Ensure seamless integration of artist data with playlists, search, and listening analytics modules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29000" y="4251960"/>
            <a:ext cx="5486400" cy="41148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F0A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A500"/>
                </a:solidFill>
              </a:rPr>
              <a:t>⚙  Only ARTIST role can upload · Song visibility enforced · Delete blocked if album has songs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960120" cy="960120"/>
          </a:xfrm>
          <a:prstGeom prst="ellipse">
            <a:avLst/>
          </a:prstGeom>
          <a:solidFill>
            <a:srgbClr val="00C9A7">
              <a:alpha val="9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292608"/>
            <a:ext cx="1280160" cy="310896"/>
          </a:xfrm>
          <a:prstGeom prst="round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92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MODULE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Sreeja Pallerla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</a:rPr>
              <a:t>Application Monitoring &amp; Reliability Engineer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274320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21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PACKAGES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404872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14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aspect.logging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660904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700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filter.request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916936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exception.handler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172968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82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exception.custom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38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config.log4j2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0"/>
            <a:ext cx="5806440" cy="514807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3716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Logging, Monitoring &amp; Error Handling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9000" y="777240"/>
            <a:ext cx="5486400" cy="237744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795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ROLES &amp; RESPONSIBILITIES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9000" y="1097280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1216152"/>
            <a:ext cx="301752" cy="301752"/>
          </a:xfrm>
          <a:prstGeom prst="ellipse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2161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1143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Configure and manage structured application logging using Log4j2 with rolling file appenders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1709928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1828800"/>
            <a:ext cx="301752" cy="301752"/>
          </a:xfrm>
          <a:prstGeom prst="ellipse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8288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58768" y="17556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Implement AOP-based logging (LogAspect) for all controllers and services with performance timing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9000" y="2322576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2441448"/>
            <a:ext cx="301752" cy="301752"/>
          </a:xfrm>
          <a:prstGeom prst="ellipse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4414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8768" y="2368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Develop centralized GlobalExceptionHandler with standardized error response objects for all APIs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2935224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3008" y="3054096"/>
            <a:ext cx="301752" cy="301752"/>
          </a:xfrm>
          <a:prstGeom prst="ellipse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0540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29809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Create custom exception hierarchy (ResourceNotFoundException, UnauthorizedException, etc.) for traceability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29000" y="3547872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93008" y="3666744"/>
            <a:ext cx="301752" cy="301752"/>
          </a:xfrm>
          <a:prstGeom prst="ellipse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6667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58768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Monitor request-response lifecycle via RequestLoggingFilter and maintain full error traceability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29000" y="4251960"/>
            <a:ext cx="5486400" cy="41148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F0A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A500"/>
                </a:solidFill>
              </a:rPr>
              <a:t>⚙  Logging in ALL services/controllers · Error codes standardized · Stack traces captured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960120" cy="960120"/>
          </a:xfrm>
          <a:prstGeom prst="ellipse">
            <a:avLst/>
          </a:prstGeom>
          <a:solidFill>
            <a:srgbClr val="F0A500">
              <a:alpha val="90000"/>
            </a:srgbClr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292608"/>
            <a:ext cx="1280160" cy="310896"/>
          </a:xfrm>
          <a:prstGeom prst="round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92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MODULE 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Hemalatha Challa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</a:rPr>
              <a:t>Web Layer &amp; UI Integration Engineer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2743200" cy="256032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21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PACKAGES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404872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14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controller.web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660904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700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templates (Thymeleaf)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916936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client.rest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172968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82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config.web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38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layout.fragments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0"/>
            <a:ext cx="5806440" cy="514807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3716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MVC Web Layer &amp; UI Integration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9000" y="777240"/>
            <a:ext cx="5486400" cy="237744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795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ROLES &amp; RESPONSIBILITIES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9000" y="1097280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1216152"/>
            <a:ext cx="301752" cy="301752"/>
          </a:xfrm>
          <a:prstGeom prst="ellipse">
            <a:avLst/>
          </a:prstGeom>
          <a:solidFill>
            <a:srgbClr val="F0A500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2161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1143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Develop Thymeleaf-based MVC web controllers and view templates for all pages (index, search, player)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1709928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1828800"/>
            <a:ext cx="301752" cy="301752"/>
          </a:xfrm>
          <a:prstGeom prst="ellipse">
            <a:avLst/>
          </a:prstGeom>
          <a:solidFill>
            <a:srgbClr val="F0A500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8288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58768" y="17556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Integrate frontend with backend APIs using RestTemplate/WebClient for data binding and rendering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9000" y="2322576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2441448"/>
            <a:ext cx="301752" cy="301752"/>
          </a:xfrm>
          <a:prstGeom prst="ellipse">
            <a:avLst/>
          </a:prstGeom>
          <a:solidFill>
            <a:srgbClr val="F0A500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4414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8768" y="2368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Implement responsive UI layout, navigation structure, and consistent design across all pages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2935224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3008" y="3054096"/>
            <a:ext cx="301752" cy="301752"/>
          </a:xfrm>
          <a:prstGeom prst="ellipse">
            <a:avLst/>
          </a:prstGeom>
          <a:solidFill>
            <a:srgbClr val="F0A500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0540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29809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Develop dynamic search UI with filtering views, genre browsing, and results page rendering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29000" y="3547872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93008" y="3666744"/>
            <a:ext cx="301752" cy="301752"/>
          </a:xfrm>
          <a:prstGeom prst="ellipse">
            <a:avLst/>
          </a:prstGeom>
          <a:solidFill>
            <a:srgbClr val="F0A500">
              <a:alpha val="7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6667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58768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Ensure consistent user experience across authentication, dashboard, player, and profile pages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29000" y="4251960"/>
            <a:ext cx="5486400" cy="41148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F0A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A500"/>
                </a:solidFill>
              </a:rPr>
              <a:t>⚙  All pages use shared layout fragments · Search results paginated · Mobile-responsive required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960120" cy="960120"/>
          </a:xfrm>
          <a:prstGeom prst="ellipse">
            <a:avLst/>
          </a:prstGeom>
          <a:solidFill>
            <a:srgbClr val="9B59B6">
              <a:alpha val="9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292608"/>
            <a:ext cx="1280160" cy="310896"/>
          </a:xfrm>
          <a:prstGeom prst="round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92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MODULE 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Shanmukh Mudapaka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9B6"/>
                </a:solidFill>
              </a:rPr>
              <a:t>User Experience &amp; Engagement Engineer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2743200" cy="256032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21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PACKAGES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404872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14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controller.user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660904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700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service.user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916936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controller.favorite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172968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82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controller.history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38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service.stats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0"/>
            <a:ext cx="5806440" cy="514807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3716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Profile &amp; User Features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9000" y="777240"/>
            <a:ext cx="5486400" cy="237744"/>
          </a:xfrm>
          <a:prstGeom prst="rect">
            <a:avLst/>
          </a:prstGeom>
          <a:solidFill>
            <a:srgbClr val="9B59B6">
              <a:alpha val="85000"/>
            </a:srgbClr>
          </a:solidFill>
          <a:ln w="12700">
            <a:solidFill>
              <a:srgbClr val="9B59B6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795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ROLES &amp; RESPONSIBILITIES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9000" y="1097280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1216152"/>
            <a:ext cx="301752" cy="301752"/>
          </a:xfrm>
          <a:prstGeom prst="ellipse">
            <a:avLst/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2161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1143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Develop user profile management with display name, bio, profile picture, and account statistics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1709928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1828800"/>
            <a:ext cx="301752" cy="301752"/>
          </a:xfrm>
          <a:prstGeom prst="ellipse">
            <a:avLst/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8288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58768" y="17556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Implement favorites management: add/remove songs from favorites and quick access from player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9000" y="2322576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2441448"/>
            <a:ext cx="301752" cy="301752"/>
          </a:xfrm>
          <a:prstGeom prst="ellipse">
            <a:avLst/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4414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8768" y="2368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Build playlist follow/unfollow functionality and public playlist discovery features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2935224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3008" y="3054096"/>
            <a:ext cx="301752" cy="301752"/>
          </a:xfrm>
          <a:prstGeom prst="ellipse">
            <a:avLst/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0540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29809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Maintain accurate user engagement metrics: total playlists, favorite song count, listening time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29000" y="3547872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93008" y="3666744"/>
            <a:ext cx="301752" cy="301752"/>
          </a:xfrm>
          <a:prstGeom prst="ellipse">
            <a:avLst/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6667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58768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Track and expose listening history (last 50 songs) with timestamps and clear-history option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29000" y="4251960"/>
            <a:ext cx="5486400" cy="41148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F0A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A500"/>
                </a:solidFill>
              </a:rPr>
              <a:t>⚙  Users see only own data · Favorites update play stats · History capped at 50 entries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960120" cy="960120"/>
          </a:xfrm>
          <a:prstGeom prst="ellipse">
            <a:avLst/>
          </a:prstGeom>
          <a:solidFill>
            <a:srgbClr val="00A8E8">
              <a:alpha val="90000"/>
            </a:srgbClr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NK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292608"/>
            <a:ext cx="1280160" cy="310896"/>
          </a:xfrm>
          <a:prstGeom prst="roundRect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92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MODULE 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Nanda Kishore Peddanapati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E8"/>
                </a:solidFill>
              </a:rPr>
              <a:t>Playback &amp; Music Discovery Engineer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2743200" cy="256032"/>
          </a:xfrm>
          <a:prstGeom prst="rect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21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PACKAGES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404872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14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controller.player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660904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700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controller.playlist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916936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controller.search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172968"/>
            <a:ext cx="2743200" cy="256032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82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service.player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2743200" cy="2560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38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›  service.search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0"/>
            <a:ext cx="5806440" cy="514807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3716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Player, Playlists &amp; Discovery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9000" y="777240"/>
            <a:ext cx="5486400" cy="237744"/>
          </a:xfrm>
          <a:prstGeom prst="rect">
            <a:avLst/>
          </a:prstGeom>
          <a:solidFill>
            <a:srgbClr val="00A8E8">
              <a:alpha val="85000"/>
            </a:srgbClr>
          </a:solidFill>
          <a:ln w="12700">
            <a:solidFill>
              <a:srgbClr val="00A8E8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795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ROLES &amp; RESPONSIBILITIES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9000" y="1097280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00A8E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1216152"/>
            <a:ext cx="301752" cy="301752"/>
          </a:xfrm>
          <a:prstGeom prst="ellipse">
            <a:avLst/>
          </a:prstGeom>
          <a:solidFill>
            <a:srgbClr val="00A8E8">
              <a:alpha val="7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2161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1143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Implement integrated web music player with controls: play, pause, skip, seek, volume, shuffle, repeat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1709928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00A8E8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1828800"/>
            <a:ext cx="301752" cy="301752"/>
          </a:xfrm>
          <a:prstGeom prst="ellipse">
            <a:avLst/>
          </a:prstGeom>
          <a:solidFill>
            <a:srgbClr val="00A8E8">
              <a:alpha val="7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8288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58768" y="17556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Develop playlist management: create, edit, delete, reorder songs, and set public/private privacy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9000" y="2322576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00A8E8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2441448"/>
            <a:ext cx="301752" cy="301752"/>
          </a:xfrm>
          <a:prstGeom prst="ellipse">
            <a:avLst/>
          </a:prstGeom>
          <a:solidFill>
            <a:srgbClr val="00A8E8">
              <a:alpha val="7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4414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8768" y="2368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Build global search across songs, artists, albums, and playlists with keyword and filter support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2935224"/>
            <a:ext cx="5486400" cy="54864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00A8E8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3008" y="3054096"/>
            <a:ext cx="301752" cy="301752"/>
          </a:xfrm>
          <a:prstGeom prst="ellipse">
            <a:avLst/>
          </a:prstGeom>
          <a:solidFill>
            <a:srgbClr val="00A8E8">
              <a:alpha val="7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0540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29809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Implement genre-based browsing, category filtering, and music discovery recommendation logic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29000" y="3547872"/>
            <a:ext cx="5486400" cy="5486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00A8E8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93008" y="3666744"/>
            <a:ext cx="301752" cy="301752"/>
          </a:xfrm>
          <a:prstGeom prst="ellipse">
            <a:avLst/>
          </a:prstGeom>
          <a:solidFill>
            <a:srgbClr val="00A8E8">
              <a:alpha val="7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6667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58768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F0"/>
                </a:solidFill>
              </a:rPr>
              <a:t>Support playback analytics: trigger play count updates and listening trend data collection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29000" y="4251960"/>
            <a:ext cx="5486400" cy="411480"/>
          </a:xfrm>
          <a:prstGeom prst="roundRect">
            <a:avLst/>
          </a:prstGeom>
          <a:solidFill>
            <a:srgbClr val="1E1E42"/>
          </a:solidFill>
          <a:ln w="10160">
            <a:solidFill>
              <a:srgbClr val="F0A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A500"/>
                </a:solidFill>
              </a:rPr>
              <a:t>⚙  Player queue managed client-side · Search indexed by title/artist/genre · Playlists paginated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71416"/>
            <a:ext cx="566928" cy="676656"/>
          </a:xfrm>
          <a:prstGeom prst="rect">
            <a:avLst/>
          </a:prstGeom>
          <a:solidFill>
            <a:srgbClr val="6C2BD9">
              <a:alpha val="22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13048"/>
            <a:ext cx="566928" cy="1335024"/>
          </a:xfrm>
          <a:prstGeom prst="rect">
            <a:avLst/>
          </a:prstGeom>
          <a:solidFill>
            <a:srgbClr val="6C2BD9">
              <a:alpha val="38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6192" y="4142232"/>
            <a:ext cx="566928" cy="1005840"/>
          </a:xfrm>
          <a:prstGeom prst="rect">
            <a:avLst/>
          </a:prstGeom>
          <a:solidFill>
            <a:srgbClr val="6C2BD9">
              <a:alpha val="30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04288" y="3483864"/>
            <a:ext cx="566928" cy="1664208"/>
          </a:xfrm>
          <a:prstGeom prst="rect">
            <a:avLst/>
          </a:prstGeom>
          <a:solidFill>
            <a:srgbClr val="6C2BD9">
              <a:alpha val="47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72384" y="4306824"/>
            <a:ext cx="566928" cy="841248"/>
          </a:xfrm>
          <a:prstGeom prst="rect">
            <a:avLst/>
          </a:prstGeom>
          <a:solidFill>
            <a:srgbClr val="6C2BD9">
              <a:alpha val="26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3566160"/>
            <a:ext cx="566928" cy="1581912"/>
          </a:xfrm>
          <a:prstGeom prst="rect">
            <a:avLst/>
          </a:prstGeom>
          <a:solidFill>
            <a:srgbClr val="6C2BD9">
              <a:alpha val="44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8576" y="4059936"/>
            <a:ext cx="566928" cy="1088136"/>
          </a:xfrm>
          <a:prstGeom prst="rect">
            <a:avLst/>
          </a:prstGeom>
          <a:solidFill>
            <a:srgbClr val="6C2BD9">
              <a:alpha val="32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76672" y="3730752"/>
            <a:ext cx="566928" cy="1417320"/>
          </a:xfrm>
          <a:prstGeom prst="rect">
            <a:avLst/>
          </a:prstGeom>
          <a:solidFill>
            <a:srgbClr val="6C2BD9">
              <a:alpha val="40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4768" y="4389120"/>
            <a:ext cx="566928" cy="758952"/>
          </a:xfrm>
          <a:prstGeom prst="rect">
            <a:avLst/>
          </a:prstGeom>
          <a:solidFill>
            <a:srgbClr val="6C2BD9">
              <a:alpha val="24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2864" y="3895344"/>
            <a:ext cx="566928" cy="1252728"/>
          </a:xfrm>
          <a:prstGeom prst="rect">
            <a:avLst/>
          </a:prstGeom>
          <a:solidFill>
            <a:srgbClr val="6C2BD9">
              <a:alpha val="36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4224528"/>
            <a:ext cx="566928" cy="923544"/>
          </a:xfrm>
          <a:prstGeom prst="rect">
            <a:avLst/>
          </a:prstGeom>
          <a:solidFill>
            <a:srgbClr val="6C2BD9">
              <a:alpha val="28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9056" y="3648456"/>
            <a:ext cx="566928" cy="1499616"/>
          </a:xfrm>
          <a:prstGeom prst="rect">
            <a:avLst/>
          </a:prstGeom>
          <a:solidFill>
            <a:srgbClr val="6C2BD9">
              <a:alpha val="43000"/>
            </a:srgbClr>
          </a:solidFill>
          <a:ln w="12700">
            <a:solidFill>
              <a:srgbClr val="6C2BD9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74320"/>
            <a:ext cx="3657600" cy="3657600"/>
          </a:xfrm>
          <a:prstGeom prst="ellipse">
            <a:avLst/>
          </a:prstGeom>
          <a:solidFill>
            <a:srgbClr val="6C2BD9">
              <a:alpha val="10000"/>
            </a:srgbClr>
          </a:solidFill>
          <a:ln w="12700">
            <a:solidFill>
              <a:srgbClr val="6C2BD9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365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🎵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365760" y="2487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A500"/>
                </a:solidFill>
              </a:rPr>
              <a:t>RevPlay — P2 Project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6C2BD9"/>
                </a:solidFill>
              </a:rPr>
              <a:t>THE TEAM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1325880" cy="12344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639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Nikhil </a:t>
            </a:r>
            <a:br>
              <a:rPr lang="en-US" sz="1100" b="1" dirty="0">
                <a:solidFill>
                  <a:schemeClr val="bg1"/>
                </a:solidFill>
              </a:rPr>
            </a:b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3584448"/>
            <a:ext cx="1325880" cy="12344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6544" y="3639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F05032"/>
              </a:solidFill>
            </a:endParaRPr>
          </a:p>
          <a:p>
            <a:pPr marL="0" indent="0" algn="ctr">
              <a:buNone/>
            </a:pPr>
            <a:endParaRPr lang="en-US" sz="1100" b="1" dirty="0">
              <a:solidFill>
                <a:srgbClr val="F05032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Harish</a:t>
            </a:r>
          </a:p>
        </p:txBody>
      </p:sp>
      <p:sp>
        <p:nvSpPr>
          <p:cNvPr id="25" name="Text 23"/>
          <p:cNvSpPr/>
          <p:nvPr/>
        </p:nvSpPr>
        <p:spPr>
          <a:xfrm>
            <a:off x="178308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63824" y="3575304"/>
            <a:ext cx="1325880" cy="12344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3639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Sreeja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4612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584448"/>
            <a:ext cx="1325880" cy="12344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3639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Hemalatha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0916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584448"/>
            <a:ext cx="1325880" cy="12344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3639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Shanmukh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7220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89520" y="3584448"/>
            <a:ext cx="1325880" cy="1234440"/>
          </a:xfrm>
          <a:prstGeom prst="roundRect">
            <a:avLst/>
          </a:prstGeom>
          <a:solidFill>
            <a:srgbClr val="1E1E42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18704" y="3639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Nanda Kishore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63524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1008</Words>
  <Application>Microsoft Office PowerPoint</Application>
  <PresentationFormat>On-screen Show (16:9)</PresentationFormat>
  <Paragraphs>213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Thulasi Kumar</cp:lastModifiedBy>
  <cp:revision>6</cp:revision>
  <dcterms:created xsi:type="dcterms:W3CDTF">2026-03-03T16:40:11Z</dcterms:created>
  <dcterms:modified xsi:type="dcterms:W3CDTF">2026-03-04T03:49:01Z</dcterms:modified>
</cp:coreProperties>
</file>